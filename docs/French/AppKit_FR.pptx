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301" r:id="rId11"/>
    <p:sldId id="267" r:id="rId12"/>
    <p:sldId id="268" r:id="rId13"/>
    <p:sldId id="285" r:id="rId14"/>
    <p:sldId id="306" r:id="rId15"/>
    <p:sldId id="286" r:id="rId16"/>
    <p:sldId id="294" r:id="rId17"/>
    <p:sldId id="293" r:id="rId18"/>
    <p:sldId id="292" r:id="rId19"/>
    <p:sldId id="269" r:id="rId20"/>
    <p:sldId id="270" r:id="rId21"/>
    <p:sldId id="271" r:id="rId22"/>
    <p:sldId id="273" r:id="rId23"/>
    <p:sldId id="272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307" r:id="rId32"/>
    <p:sldId id="308" r:id="rId33"/>
    <p:sldId id="309" r:id="rId34"/>
    <p:sldId id="302" r:id="rId35"/>
    <p:sldId id="303" r:id="rId36"/>
    <p:sldId id="281" r:id="rId37"/>
    <p:sldId id="282" r:id="rId38"/>
    <p:sldId id="283" r:id="rId39"/>
    <p:sldId id="289" r:id="rId40"/>
    <p:sldId id="284" r:id="rId41"/>
    <p:sldId id="287" r:id="rId42"/>
    <p:sldId id="290" r:id="rId43"/>
    <p:sldId id="288" r:id="rId44"/>
    <p:sldId id="291" r:id="rId45"/>
    <p:sldId id="295" r:id="rId46"/>
    <p:sldId id="296" r:id="rId47"/>
    <p:sldId id="297" r:id="rId48"/>
    <p:sldId id="298" r:id="rId49"/>
    <p:sldId id="299" r:id="rId50"/>
    <p:sldId id="304" r:id="rId51"/>
    <p:sldId id="305" r:id="rId52"/>
    <p:sldId id="300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5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0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2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9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2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8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9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F01E1-F7F2-41FE-B0F6-58581ECF2493}" type="datetimeFigureOut">
              <a:rPr lang="en-US" smtClean="0"/>
              <a:t>12/13/2011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CA17-E726-4111-8CAC-E625EF9A5E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38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 smtClean="0"/>
              <a:t>App</a:t>
            </a:r>
            <a:r>
              <a:rPr lang="fr-CH" b="1" dirty="0" smtClean="0"/>
              <a:t>Kit</a:t>
            </a:r>
            <a:endParaRPr lang="en-US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smtClean="0"/>
              <a:t>Bibliothèque de développement d’interfaces graphiques</a:t>
            </a:r>
            <a:endParaRPr lang="en-US" dirty="0"/>
          </a:p>
        </p:txBody>
      </p:sp>
      <p:pic>
        <p:nvPicPr>
          <p:cNvPr id="1028" name="Picture 4" descr="C:\Users\MacBook\Pictures\cclogolarg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22373"/>
            <a:ext cx="1295400" cy="30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228600" y="6354026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effectLst/>
              </a:rPr>
              <a:t>Attribution-NoDerivs 3.0</a:t>
            </a:r>
            <a:endParaRPr lang="en-US" sz="1400" b="1" dirty="0" smtClean="0"/>
          </a:p>
        </p:txBody>
      </p:sp>
      <p:pic>
        <p:nvPicPr>
          <p:cNvPr id="1029" name="Picture 5" descr="C:\Users\MacBook\Pictures\tools_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447800"/>
            <a:ext cx="11811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6858000" y="6177033"/>
            <a:ext cx="193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 smtClean="0"/>
              <a:t>Anass</a:t>
            </a:r>
            <a:r>
              <a:rPr lang="fr-CH" dirty="0" smtClean="0"/>
              <a:t> BOUASSABA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345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Généralités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Bibliothèque de développement d’interfaces graphiques pour des applications de bureau</a:t>
            </a:r>
          </a:p>
          <a:p>
            <a:r>
              <a:rPr lang="fr-CH" dirty="0" smtClean="0"/>
              <a:t>Ecrite en Langage C++</a:t>
            </a:r>
          </a:p>
          <a:p>
            <a:r>
              <a:rPr lang="fr-CH" dirty="0" smtClean="0"/>
              <a:t>Design et mécanismes orientés objet</a:t>
            </a:r>
          </a:p>
          <a:p>
            <a:r>
              <a:rPr lang="fr-CH" dirty="0" smtClean="0"/>
              <a:t>Multiplateforme (Windows, Linux, Mac OS X)</a:t>
            </a:r>
          </a:p>
          <a:p>
            <a:r>
              <a:rPr lang="fr-CH" dirty="0" smtClean="0"/>
              <a:t>Actuellement pas de version pour Mobile</a:t>
            </a:r>
          </a:p>
          <a:p>
            <a:r>
              <a:rPr lang="fr-CH" dirty="0" smtClean="0"/>
              <a:t>Distribuée sous licence </a:t>
            </a:r>
            <a:r>
              <a:rPr lang="en-US" dirty="0" smtClean="0">
                <a:effectLst/>
              </a:rPr>
              <a:t>“ </a:t>
            </a:r>
            <a:r>
              <a:rPr lang="fr-CH" dirty="0" smtClean="0"/>
              <a:t>Creative Commons </a:t>
            </a:r>
            <a:r>
              <a:rPr lang="en-US" dirty="0" smtClean="0">
                <a:effectLst/>
              </a:rPr>
              <a:t>Attribution-NoDerivs 3.0 “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09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Historique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Crée </a:t>
            </a:r>
            <a:r>
              <a:rPr lang="fr-CH" dirty="0" smtClean="0"/>
              <a:t>par en 2008 </a:t>
            </a:r>
            <a:r>
              <a:rPr lang="fr-CH" dirty="0" smtClean="0"/>
              <a:t>sous forme d’une bibliothèque d’interfaces en Langage C sous le nom «MDUI» utilisent le modèle procédurale style Windows API</a:t>
            </a:r>
          </a:p>
          <a:p>
            <a:endParaRPr lang="fr-CH" dirty="0" smtClean="0"/>
          </a:p>
          <a:p>
            <a:r>
              <a:rPr lang="fr-CH" dirty="0" smtClean="0"/>
              <a:t>Redéveloppé en </a:t>
            </a:r>
            <a:r>
              <a:rPr lang="fr-CH" dirty="0"/>
              <a:t>d</a:t>
            </a:r>
            <a:r>
              <a:rPr lang="fr-CH" dirty="0" smtClean="0"/>
              <a:t>écembre </a:t>
            </a:r>
            <a:r>
              <a:rPr lang="fr-CH" dirty="0" smtClean="0"/>
              <a:t>2011 </a:t>
            </a:r>
            <a:r>
              <a:rPr lang="fr-CH" dirty="0" smtClean="0"/>
              <a:t>en </a:t>
            </a:r>
            <a:r>
              <a:rPr lang="fr-CH" dirty="0" smtClean="0"/>
              <a:t>utilisent un modèle orienté objet sous le nom «AppKit»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27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 smtClean="0"/>
              <a:t>Introduction à la programmation AppKit</a:t>
            </a:r>
            <a:endParaRPr lang="en-US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smtClean="0"/>
              <a:t>Comment développer une application AppKit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17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Créer une application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classe akApplication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38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smtClean="0"/>
              <a:t>akApplication</a:t>
            </a:r>
            <a:endParaRPr lang="en-US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Créer une application et démarrer la boucle principale</a:t>
            </a:r>
          </a:p>
          <a:p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609600" y="3352800"/>
            <a:ext cx="8229600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22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smtClean="0"/>
              <a:t>akApplication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2438400"/>
            <a:ext cx="7543800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akApplication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akObject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akApplication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string &amp;name);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akApplication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akSize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size,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string &amp;name);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Run();</a:t>
            </a:r>
          </a:p>
          <a:p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DispatchEvent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akInputEvent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evt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2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Créer une fenêtre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classe akWindow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01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smtClean="0"/>
              <a:t>akWindow</a:t>
            </a:r>
            <a:endParaRPr lang="en-US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5000"/>
          </a:xfrm>
        </p:spPr>
        <p:txBody>
          <a:bodyPr/>
          <a:lstStyle/>
          <a:p>
            <a:r>
              <a:rPr lang="fr-CH" dirty="0" smtClean="0"/>
              <a:t>Créer une fenêtre</a:t>
            </a:r>
          </a:p>
          <a:p>
            <a:r>
              <a:rPr lang="fr-CH" dirty="0" smtClean="0"/>
              <a:t>Modifier les styles</a:t>
            </a:r>
          </a:p>
          <a:p>
            <a:r>
              <a:rPr lang="fr-CH" dirty="0" smtClean="0"/>
              <a:t>Ajouter des contrôles</a:t>
            </a:r>
          </a:p>
          <a:p>
            <a:endParaRPr lang="fr-CH" dirty="0" smtClean="0"/>
          </a:p>
          <a:p>
            <a:endParaRPr lang="en-US" dirty="0"/>
          </a:p>
        </p:txBody>
      </p:sp>
      <p:sp>
        <p:nvSpPr>
          <p:cNvPr id="7" name="ZoneTexte 6"/>
          <p:cNvSpPr txBox="1"/>
          <p:nvPr/>
        </p:nvSpPr>
        <p:spPr>
          <a:xfrm>
            <a:off x="158931" y="3505200"/>
            <a:ext cx="8763000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0600" y="4724400"/>
            <a:ext cx="7391400" cy="9144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1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styles de fenêtre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b="1" dirty="0" smtClean="0"/>
              <a:t>akWS_VISIBLE</a:t>
            </a:r>
            <a:r>
              <a:rPr lang="fr-CH" dirty="0" smtClean="0"/>
              <a:t> : permet à la fenêtre d’être visible dès sa création</a:t>
            </a:r>
          </a:p>
          <a:p>
            <a:r>
              <a:rPr lang="fr-CH" b="1" dirty="0" err="1" smtClean="0"/>
              <a:t>akWS</a:t>
            </a:r>
            <a:r>
              <a:rPr lang="fr-CH" b="1" dirty="0" smtClean="0"/>
              <a:t>_</a:t>
            </a:r>
            <a:r>
              <a:rPr lang="en-US" b="1" dirty="0" smtClean="0"/>
              <a:t>CLOSABLE </a:t>
            </a:r>
            <a:r>
              <a:rPr lang="en-US" dirty="0" smtClean="0"/>
              <a:t>: </a:t>
            </a:r>
            <a:r>
              <a:rPr lang="en-US" dirty="0" err="1" smtClean="0"/>
              <a:t>créer</a:t>
            </a:r>
            <a:r>
              <a:rPr lang="en-US" dirty="0" smtClean="0"/>
              <a:t> un </a:t>
            </a:r>
            <a:r>
              <a:rPr lang="en-US" dirty="0" err="1" smtClean="0"/>
              <a:t>bouton</a:t>
            </a:r>
            <a:r>
              <a:rPr lang="en-US" dirty="0" smtClean="0"/>
              <a:t> de </a:t>
            </a:r>
            <a:r>
              <a:rPr lang="en-US" dirty="0" err="1" smtClean="0"/>
              <a:t>fermeture</a:t>
            </a:r>
            <a:endParaRPr lang="en-US" dirty="0" smtClean="0"/>
          </a:p>
          <a:p>
            <a:r>
              <a:rPr lang="en-US" b="1" dirty="0" err="1" smtClean="0"/>
              <a:t>akWS_MAXIMIZABLE</a:t>
            </a:r>
            <a:r>
              <a:rPr lang="en-US" b="1" dirty="0" smtClean="0"/>
              <a:t> </a:t>
            </a:r>
            <a:r>
              <a:rPr lang="en-US" dirty="0" smtClean="0"/>
              <a:t>: </a:t>
            </a:r>
            <a:r>
              <a:rPr lang="en-US" dirty="0" err="1" smtClean="0"/>
              <a:t>créer</a:t>
            </a:r>
            <a:r>
              <a:rPr lang="en-US" dirty="0" smtClean="0"/>
              <a:t> un </a:t>
            </a:r>
            <a:r>
              <a:rPr lang="en-US" dirty="0" err="1" smtClean="0"/>
              <a:t>bouton</a:t>
            </a:r>
            <a:r>
              <a:rPr lang="en-US" dirty="0" smtClean="0"/>
              <a:t> </a:t>
            </a:r>
            <a:r>
              <a:rPr lang="en-US" dirty="0" err="1" smtClean="0"/>
              <a:t>d’agrandissement</a:t>
            </a:r>
            <a:r>
              <a:rPr lang="en-US" dirty="0" smtClean="0"/>
              <a:t> de la </a:t>
            </a:r>
            <a:r>
              <a:rPr lang="en-US" dirty="0" err="1" smtClean="0"/>
              <a:t>fenêtre</a:t>
            </a:r>
            <a:endParaRPr lang="en-US" dirty="0" smtClean="0"/>
          </a:p>
          <a:p>
            <a:r>
              <a:rPr lang="en-US" b="1" dirty="0" err="1" smtClean="0"/>
              <a:t>akWS_MINIMIZABLE</a:t>
            </a:r>
            <a:r>
              <a:rPr lang="en-US" b="1" dirty="0" smtClean="0"/>
              <a:t> </a:t>
            </a:r>
            <a:r>
              <a:rPr lang="en-US" dirty="0" smtClean="0"/>
              <a:t>: </a:t>
            </a:r>
            <a:r>
              <a:rPr lang="en-US" dirty="0" err="1" smtClean="0"/>
              <a:t>créer</a:t>
            </a:r>
            <a:r>
              <a:rPr lang="en-US" dirty="0" smtClean="0"/>
              <a:t> un </a:t>
            </a:r>
            <a:r>
              <a:rPr lang="en-US" dirty="0" err="1" smtClean="0"/>
              <a:t>bouton</a:t>
            </a:r>
            <a:r>
              <a:rPr lang="en-US" dirty="0" smtClean="0"/>
              <a:t> pour </a:t>
            </a:r>
            <a:r>
              <a:rPr lang="en-US" dirty="0" err="1" smtClean="0"/>
              <a:t>réduire</a:t>
            </a:r>
            <a:r>
              <a:rPr lang="en-US" dirty="0" smtClean="0"/>
              <a:t> la </a:t>
            </a:r>
            <a:r>
              <a:rPr lang="en-US" dirty="0" err="1" smtClean="0"/>
              <a:t>fenêtre</a:t>
            </a:r>
            <a:r>
              <a:rPr lang="en-US" dirty="0" smtClean="0"/>
              <a:t> </a:t>
            </a:r>
            <a:endParaRPr lang="fr-CH" dirty="0" smtClean="0"/>
          </a:p>
        </p:txBody>
      </p:sp>
    </p:spTree>
    <p:extLst>
      <p:ext uri="{BB962C8B-B14F-4D97-AF65-F5344CB8AC3E}">
        <p14:creationId xmlns:p14="http://schemas.microsoft.com/office/powerpoint/2010/main" val="301893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classe </a:t>
            </a:r>
            <a:r>
              <a:rPr lang="fr-CH" b="1" dirty="0"/>
              <a:t>akWindow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81000" y="1828800"/>
            <a:ext cx="8458200" cy="37548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akWindow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akObject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 lvl="1"/>
            <a:r>
              <a:rPr lang="en-US" sz="1400" b="1" dirty="0">
                <a:latin typeface="Courier New" pitchFamily="49" charset="0"/>
                <a:cs typeface="Courier New" pitchFamily="49" charset="0"/>
              </a:rPr>
              <a:t>akWindow(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contentRect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string title, long style);</a:t>
            </a:r>
          </a:p>
          <a:p>
            <a:pPr lvl="1"/>
            <a:r>
              <a:rPr lang="fr-FR" sz="1400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GetTitle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GetContentRect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SetContentRect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IsVisible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SetVisible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visible);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SetMaximizable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maximizable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SetMinimizable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minimizable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SetClosable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closable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IsMaximizable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IsMinimizable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IsClosable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84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classe </a:t>
            </a:r>
            <a:r>
              <a:rPr lang="fr-CH" b="1" dirty="0"/>
              <a:t>akWindow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685800" y="1981200"/>
            <a:ext cx="7620000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SetBackgroundColor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akColor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color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akColor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GetBackgroundColor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Repaint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GetFirstResponder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SetFirstResponder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DispatchInputEvent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akInputEvent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evt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SetCanReceiveMouseMoveEvents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CanReceiveMouseMotionEvents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Close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contrôles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dirty="0" err="1" smtClean="0"/>
              <a:t>akControl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427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3733800" y="1453246"/>
            <a:ext cx="1219200" cy="533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akObject</a:t>
            </a:r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3738154" y="3574872"/>
            <a:ext cx="1219200" cy="5334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akControl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3733800" y="2443846"/>
            <a:ext cx="1219200" cy="5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akView</a:t>
            </a:r>
            <a:endParaRPr lang="fr-FR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381000" y="5308967"/>
            <a:ext cx="1676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akPushButton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2438400" y="5308967"/>
            <a:ext cx="1676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akRadioButton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4384765" y="5308967"/>
            <a:ext cx="1317171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akTextBox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6172200" y="5308967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akListBox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7772400" y="5302436"/>
            <a:ext cx="1219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 smtClean="0"/>
              <a:t>akLabel</a:t>
            </a:r>
            <a:endParaRPr lang="fr-FR" dirty="0"/>
          </a:p>
        </p:txBody>
      </p:sp>
      <p:cxnSp>
        <p:nvCxnSpPr>
          <p:cNvPr id="17" name="Connecteur droit avec flèche 16"/>
          <p:cNvCxnSpPr>
            <a:stCxn id="7" idx="0"/>
            <a:endCxn id="4" idx="2"/>
          </p:cNvCxnSpPr>
          <p:nvPr/>
        </p:nvCxnSpPr>
        <p:spPr>
          <a:xfrm flipV="1">
            <a:off x="4343400" y="1986646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6" idx="0"/>
            <a:endCxn id="7" idx="2"/>
          </p:cNvCxnSpPr>
          <p:nvPr/>
        </p:nvCxnSpPr>
        <p:spPr>
          <a:xfrm flipH="1" flipV="1">
            <a:off x="4343400" y="2977246"/>
            <a:ext cx="4354" cy="597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en angle 22"/>
          <p:cNvCxnSpPr>
            <a:stCxn id="8" idx="0"/>
            <a:endCxn id="6" idx="2"/>
          </p:cNvCxnSpPr>
          <p:nvPr/>
        </p:nvCxnSpPr>
        <p:spPr>
          <a:xfrm rot="5400000" flipH="1" flipV="1">
            <a:off x="2183130" y="3144343"/>
            <a:ext cx="1200695" cy="312855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en angle 24"/>
          <p:cNvCxnSpPr>
            <a:stCxn id="9" idx="0"/>
            <a:endCxn id="6" idx="2"/>
          </p:cNvCxnSpPr>
          <p:nvPr/>
        </p:nvCxnSpPr>
        <p:spPr>
          <a:xfrm rot="5400000" flipH="1" flipV="1">
            <a:off x="3211830" y="4173043"/>
            <a:ext cx="1200695" cy="107115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en angle 26"/>
          <p:cNvCxnSpPr>
            <a:stCxn id="10" idx="0"/>
            <a:endCxn id="6" idx="2"/>
          </p:cNvCxnSpPr>
          <p:nvPr/>
        </p:nvCxnSpPr>
        <p:spPr>
          <a:xfrm rot="16200000" flipV="1">
            <a:off x="4095206" y="4360821"/>
            <a:ext cx="1200695" cy="695597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en angle 28"/>
          <p:cNvCxnSpPr>
            <a:stCxn id="11" idx="0"/>
            <a:endCxn id="6" idx="2"/>
          </p:cNvCxnSpPr>
          <p:nvPr/>
        </p:nvCxnSpPr>
        <p:spPr>
          <a:xfrm rot="16200000" flipV="1">
            <a:off x="4983480" y="3472547"/>
            <a:ext cx="1200695" cy="247214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en angle 32"/>
          <p:cNvCxnSpPr>
            <a:stCxn id="12" idx="0"/>
            <a:endCxn id="6" idx="2"/>
          </p:cNvCxnSpPr>
          <p:nvPr/>
        </p:nvCxnSpPr>
        <p:spPr>
          <a:xfrm rot="16200000" flipV="1">
            <a:off x="5767795" y="2688231"/>
            <a:ext cx="1194164" cy="403424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3217816" y="188015"/>
            <a:ext cx="2248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3600" dirty="0" smtClean="0"/>
              <a:t>Hiérarchie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72893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contrôles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 smtClean="0"/>
              <a:t>Un contrôle est une objet de type </a:t>
            </a:r>
            <a:r>
              <a:rPr lang="fr-CH" b="1" dirty="0" err="1" smtClean="0"/>
              <a:t>akControl</a:t>
            </a:r>
            <a:endParaRPr lang="fr-CH" b="1" dirty="0" smtClean="0"/>
          </a:p>
          <a:p>
            <a:r>
              <a:rPr lang="fr-CH" dirty="0" smtClean="0"/>
              <a:t>La class </a:t>
            </a:r>
            <a:r>
              <a:rPr lang="fr-CH" b="1" dirty="0" err="1" smtClean="0"/>
              <a:t>akControl</a:t>
            </a:r>
            <a:r>
              <a:rPr lang="fr-CH" dirty="0"/>
              <a:t> </a:t>
            </a:r>
            <a:r>
              <a:rPr lang="fr-CH" dirty="0" smtClean="0"/>
              <a:t>hérite de la classe </a:t>
            </a:r>
            <a:r>
              <a:rPr lang="fr-CH" b="1" dirty="0" err="1" smtClean="0"/>
              <a:t>akView</a:t>
            </a:r>
            <a:endParaRPr lang="fr-CH" b="1" dirty="0" smtClean="0"/>
          </a:p>
          <a:p>
            <a:r>
              <a:rPr lang="fr-CH" dirty="0" smtClean="0"/>
              <a:t>Donc chaque contrôle est une vue (</a:t>
            </a:r>
            <a:r>
              <a:rPr lang="fr-CH" dirty="0" err="1" smtClean="0"/>
              <a:t>akView</a:t>
            </a:r>
            <a:r>
              <a:rPr lang="fr-CH" dirty="0" smtClean="0"/>
              <a:t>)</a:t>
            </a:r>
          </a:p>
          <a:p>
            <a:r>
              <a:rPr lang="fr-CH" dirty="0" smtClean="0"/>
              <a:t>Les vues peuvent être ajouté à une fenêtre (akWindow) pour être visible à l’utilisateur</a:t>
            </a:r>
          </a:p>
          <a:p>
            <a:r>
              <a:rPr lang="fr-CH" dirty="0" smtClean="0"/>
              <a:t>Tous les objets de </a:t>
            </a:r>
            <a:r>
              <a:rPr lang="fr-CH" b="1" dirty="0" smtClean="0"/>
              <a:t>AppKit </a:t>
            </a:r>
            <a:r>
              <a:rPr lang="fr-CH" dirty="0" smtClean="0"/>
              <a:t>héritent de la classe </a:t>
            </a:r>
            <a:r>
              <a:rPr lang="fr-CH" b="1" dirty="0" err="1" smtClean="0"/>
              <a:t>akObject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1392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err="1" smtClean="0"/>
              <a:t>akObject</a:t>
            </a:r>
            <a:endParaRPr lang="fr-FR" b="1" dirty="0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324600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akObject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akObject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SetClassName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className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GetClassName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3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6997" y="82094"/>
            <a:ext cx="8229600" cy="1143000"/>
          </a:xfrm>
        </p:spPr>
        <p:txBody>
          <a:bodyPr/>
          <a:lstStyle/>
          <a:p>
            <a:r>
              <a:rPr lang="fr-CH" dirty="0" smtClean="0"/>
              <a:t>La class </a:t>
            </a:r>
            <a:r>
              <a:rPr lang="fr-CH" b="1" dirty="0" err="1" smtClean="0"/>
              <a:t>akView</a:t>
            </a:r>
            <a:endParaRPr lang="fr-FR" b="1" dirty="0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63594" cy="46166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akObject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*parent = NULL);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GetRect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AddChild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RemoveChild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view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Repaint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2"/>
            <a:r>
              <a:rPr lang="fr-FR" sz="1400" b="1" dirty="0">
                <a:latin typeface="Courier New" pitchFamily="49" charset="0"/>
                <a:cs typeface="Courier New" pitchFamily="49" charset="0"/>
              </a:rPr>
              <a:t>akWindow*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GetWindow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SetWindow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(akWindow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wnd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AddPainter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akPainter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painter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RemovePainter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akPainter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painter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AddKeyEventReceiver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akKeyEventReceiver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RemoveKeyEventReceiver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akKeyEventReceiver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AddMouseEventReceiver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akMouseEventReceiver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RemoveMouseEventReceiver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akMouseEventReceiver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AddViewNotificationReceiver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akViewNotificationReceiver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RemoveViewNotificationReceiver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akViewNotificationReceiver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rcv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87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err="1" smtClean="0"/>
              <a:t>akControl</a:t>
            </a:r>
            <a:endParaRPr lang="fr-FR" b="1" dirty="0"/>
          </a:p>
        </p:txBody>
      </p:sp>
      <p:sp>
        <p:nvSpPr>
          <p:cNvPr id="4" name="Rectangle 3"/>
          <p:cNvSpPr/>
          <p:nvPr/>
        </p:nvSpPr>
        <p:spPr>
          <a:xfrm>
            <a:off x="457200" y="2057400"/>
            <a:ext cx="8229600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akControl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akControl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*parent = NULL);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AddActionReceiver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akActionReceiver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RemoveActionReceiver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akActionReceiver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receiver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87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Créer un bouton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dirty="0" err="1" smtClean="0"/>
              <a:t>akPushButton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754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b="1" dirty="0" err="1" smtClean="0"/>
              <a:t>akPushButton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58931" y="1524000"/>
            <a:ext cx="8763000" cy="3539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akPushButton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*bouton = new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akPushButton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(10,10,80,35),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Bouton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1“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(bouton);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3581401"/>
            <a:ext cx="8083731" cy="7620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2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err="1" smtClean="0"/>
              <a:t>akPushButton</a:t>
            </a:r>
            <a:endParaRPr lang="fr-FR" b="1" dirty="0"/>
          </a:p>
        </p:txBody>
      </p:sp>
      <p:sp>
        <p:nvSpPr>
          <p:cNvPr id="4" name="Rectangle 3"/>
          <p:cNvSpPr/>
          <p:nvPr/>
        </p:nvSpPr>
        <p:spPr>
          <a:xfrm>
            <a:off x="990600" y="2362200"/>
            <a:ext cx="7315200" cy="1815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akPushButton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: public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akControl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akPushButton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string text, 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*parent = NULL);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}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26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Créer un bouton radio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dirty="0" err="1" smtClean="0"/>
              <a:t>akRadioButton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623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b="1" dirty="0" err="1" smtClean="0"/>
              <a:t>akRadioButton</a:t>
            </a:r>
            <a:endParaRPr lang="fr-FR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158931" y="1524000"/>
            <a:ext cx="8763000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akRadioButton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boutonRadio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akRadioButton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(10,10,80,35),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Bouton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Radio 1“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boutonRadio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8015" y="3810000"/>
            <a:ext cx="7526386" cy="973183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5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class </a:t>
            </a:r>
            <a:r>
              <a:rPr lang="fr-CH" b="1" dirty="0" err="1"/>
              <a:t>akRadioButton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533400" y="2286000"/>
            <a:ext cx="7924800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akRadioButton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: public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akControl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 lvl="1"/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akRadioButton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string text,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*parent = NULL);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SetSelected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selected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IsSelected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SetGroup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akRadioButtonGroup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*group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8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Créer une zone to texte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dirty="0" err="1" smtClean="0"/>
              <a:t>akTextBox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23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err="1" smtClean="0"/>
              <a:t>akTextBox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58931" y="1524000"/>
            <a:ext cx="8763000" cy="48320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akTextBox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zoneDeTexte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akTextBox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(10,10,80,35),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Texte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zoneDeTexte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string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zoneDeTexte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GetText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string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autreTexte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“Un </a:t>
            </a:r>
            <a:r>
              <a:rPr lang="en-US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autre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text“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400" b="1" dirty="0" smtClean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zoneDeTexte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SetText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autreTexte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8015" y="3810000"/>
            <a:ext cx="7526386" cy="18288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45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classe </a:t>
            </a:r>
            <a:r>
              <a:rPr lang="fr-CH" b="1" dirty="0" err="1"/>
              <a:t>akTextBox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609600" y="2743200"/>
            <a:ext cx="8077200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akTextBox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akControl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akTextBox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string text,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*parent = NULL);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907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Créer une liste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dirty="0" err="1" smtClean="0"/>
              <a:t>akListBox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574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5631" y="76200"/>
            <a:ext cx="8229600" cy="1143000"/>
          </a:xfrm>
        </p:spPr>
        <p:txBody>
          <a:bodyPr/>
          <a:lstStyle/>
          <a:p>
            <a:r>
              <a:rPr lang="fr-CH" dirty="0" smtClean="0"/>
              <a:t>La class </a:t>
            </a:r>
            <a:r>
              <a:rPr lang="fr-CH" b="1" dirty="0" err="1" smtClean="0"/>
              <a:t>akListBox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58931" y="1219200"/>
            <a:ext cx="8763000" cy="5478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(10,10,150,200));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AddItem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“Windows“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AddItem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“Mac“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); 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AddItem</a:t>
            </a:r>
            <a:r>
              <a:rPr lang="fr-CH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“Linux“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GetItemText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(1);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SetItemText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(1,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“Android“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index =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GetSelectionIndex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nombreElements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listbox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GetItemCount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 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8015" y="3429000"/>
            <a:ext cx="7526386" cy="26670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class </a:t>
            </a:r>
            <a:r>
              <a:rPr lang="fr-CH" b="1" dirty="0" err="1"/>
              <a:t>akListBox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066800" y="2286000"/>
            <a:ext cx="6934200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akListBox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akControl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 lvl="1"/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akListBox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*parent = NULL);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AddItem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RemoveItem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index);</a:t>
            </a:r>
          </a:p>
          <a:p>
            <a:pPr lvl="1"/>
            <a:r>
              <a:rPr lang="fr-FR" sz="1400" b="1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GetItemText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index);</a:t>
            </a:r>
          </a:p>
          <a:p>
            <a:pPr lvl="1"/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SetItemText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index, string text);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GetSelectionIndex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fr-FR" sz="1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GetItemCount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61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Créer un label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dirty="0" err="1" smtClean="0"/>
              <a:t>akLabel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5319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err="1" smtClean="0"/>
              <a:t>akLabel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58931" y="1905000"/>
            <a:ext cx="8763000" cy="3539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akLabel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*label = new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akLabel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(20,20,120,25),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Texte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du label“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(label);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139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7126" y="304800"/>
            <a:ext cx="8229600" cy="1143000"/>
          </a:xfrm>
        </p:spPr>
        <p:txBody>
          <a:bodyPr/>
          <a:lstStyle/>
          <a:p>
            <a:r>
              <a:rPr lang="fr-CH" dirty="0"/>
              <a:t>La classe </a:t>
            </a:r>
            <a:r>
              <a:rPr lang="fr-CH" b="1" dirty="0" err="1"/>
              <a:t>akLabel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04800" y="2057400"/>
            <a:ext cx="8686800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akLabel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akControl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akLabel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rect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, string text,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*parent = NULL);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SetText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string </a:t>
            </a:r>
            <a:r>
              <a:rPr lang="fr-FR" sz="1400" b="1" dirty="0" err="1">
                <a:latin typeface="Courier New" pitchFamily="49" charset="0"/>
                <a:cs typeface="Courier New" pitchFamily="49" charset="0"/>
              </a:rPr>
              <a:t>GetText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375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Afficher un message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La class </a:t>
            </a:r>
            <a:r>
              <a:rPr lang="fr-CH" dirty="0" err="1" smtClean="0"/>
              <a:t>akMessageBox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6837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classe </a:t>
            </a:r>
            <a:r>
              <a:rPr lang="fr-CH" b="1" dirty="0" err="1" smtClean="0"/>
              <a:t>akMessageBox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58931" y="1905000"/>
            <a:ext cx="8763000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4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akMessageBox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msg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akMessageBox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“Un </a:t>
            </a:r>
            <a:r>
              <a:rPr lang="en-US" sz="14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titre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				  “Un message“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NULL);</a:t>
            </a:r>
          </a:p>
          <a:p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4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4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8015" y="4114800"/>
            <a:ext cx="6078585" cy="940526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93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Gestion des évènements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Les Receveurs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6471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Receveurs</a:t>
            </a:r>
            <a:endParaRPr lang="fr-FR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Un receveur est une interface C++ à implémenter</a:t>
            </a:r>
            <a:endParaRPr lang="fr-CH" dirty="0"/>
          </a:p>
          <a:p>
            <a:r>
              <a:rPr lang="fr-CH" dirty="0" smtClean="0"/>
              <a:t>Ensuite la class implémenté pourra être ajouter à un contrôle dont on veux gérer les évènements</a:t>
            </a:r>
          </a:p>
          <a:p>
            <a:r>
              <a:rPr lang="fr-CH" dirty="0" smtClean="0"/>
              <a:t>Il y a trois types de receveurs : Clavier, Souris, Actions utilisateur (ex: </a:t>
            </a:r>
            <a:r>
              <a:rPr lang="fr-CH" dirty="0" smtClean="0"/>
              <a:t>clic </a:t>
            </a:r>
            <a:r>
              <a:rPr lang="fr-CH" dirty="0" smtClean="0"/>
              <a:t>sur un bouton)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2024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Évènements clavier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 smtClean="0"/>
              <a:t>akKeyEventReceiver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185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 smtClean="0"/>
              <a:t>akKeyEventReceiver</a:t>
            </a:r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762000" y="2590800"/>
            <a:ext cx="7620000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akKeyEventReceiver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KeyPress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akKeyEvent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KeyRelease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akKeyEvent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1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 smtClean="0"/>
              <a:t>akKeyEventReceiver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58931" y="1219200"/>
            <a:ext cx="8763000" cy="50783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2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MonReceveurClavier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: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akKeyEventReceiver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KeyPress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akKeyEvent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KeyRelease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akKeyEvent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fr-CH" sz="1200" b="1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*view1 = new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(10,10,150,200));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(view1);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view1-&gt;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AddKeyEventReceiver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MonReceveurClavier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());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4066" y="4953000"/>
            <a:ext cx="5873934" cy="825137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5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Évènements </a:t>
            </a:r>
            <a:r>
              <a:rPr lang="fr-CH" dirty="0" err="1" smtClean="0"/>
              <a:t>SOURIs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 smtClean="0"/>
              <a:t>akMouseEventReceiver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081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/>
              <a:t>akMouseEventReceiver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04800" y="2133600"/>
            <a:ext cx="8458200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akMouseEventReceiver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MousePress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MouseRelease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MouseMove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MouseDrag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MouseWheelUp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MouseWheelDown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*sender,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*event) = 0;</a:t>
            </a: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7391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 smtClean="0"/>
              <a:t>akMouseEventReceiver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58931" y="1219200"/>
            <a:ext cx="8763000" cy="54476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2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MonReceveurSouris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: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akMouseEventReceiver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MousePress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MouseRelease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MouseMove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MouseDrag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* 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MouseWheelUp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MouseWheelDown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*sender,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akMouseEvent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*event)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fr-CH" sz="1200" b="1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*view1 = new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(10,10,150,200));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(view1);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view1-&gt;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AddMouseEventReceiver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MonReceveurSouris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());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4066" y="5181600"/>
            <a:ext cx="5873934" cy="825137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Les évènements utilisateur ou actions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 smtClean="0"/>
              <a:t>akActionReceiver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4566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</a:t>
            </a:r>
            <a:r>
              <a:rPr lang="fr-CH" dirty="0" smtClean="0"/>
              <a:t>’Interface </a:t>
            </a:r>
            <a:r>
              <a:rPr lang="fr-CH" b="1" dirty="0" err="1" smtClean="0"/>
              <a:t>akActionReceiver</a:t>
            </a:r>
            <a:endParaRPr lang="fr-FR" b="1" dirty="0"/>
          </a:p>
        </p:txBody>
      </p:sp>
      <p:sp>
        <p:nvSpPr>
          <p:cNvPr id="6" name="Rectangle 5"/>
          <p:cNvSpPr/>
          <p:nvPr/>
        </p:nvSpPr>
        <p:spPr>
          <a:xfrm>
            <a:off x="1143000" y="2660469"/>
            <a:ext cx="6705600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akActionReceiver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virtual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ActionPerformed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akControl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*sender) = 0;</a:t>
            </a: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fr-FR" sz="1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799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b="1" dirty="0" err="1"/>
              <a:t>akActionReceiver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158931" y="1295400"/>
            <a:ext cx="8763000" cy="4893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2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MonReceveurClickBouton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: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akActionReceiver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ActionPerformed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akControl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*sender) 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sz="1200" b="1" dirty="0" err="1" smtClean="0">
                <a:latin typeface="Courier New" pitchFamily="49" charset="0"/>
                <a:cs typeface="Courier New" pitchFamily="49" charset="0"/>
              </a:rPr>
              <a:t>akMessageBox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“Mon application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“, NULL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fr-CH" sz="1200" b="1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akPushButton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 *bouton = new 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akPushButton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(10,10,80,35),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200" b="1" dirty="0" err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Bouton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1“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(bouton);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bouton -&gt;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AddActionReceiver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MonReceveurClickBouton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());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84066" y="4648201"/>
            <a:ext cx="7016934" cy="83820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4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Faire du dessin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dirty="0" err="1" smtClean="0"/>
              <a:t>akPainter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3725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L’Interface </a:t>
            </a:r>
            <a:r>
              <a:rPr lang="fr-CH" b="1" dirty="0" err="1" smtClean="0"/>
              <a:t>akPainter</a:t>
            </a:r>
            <a:endParaRPr lang="fr-FR" b="1" dirty="0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001000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fr-F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latin typeface="Courier New" pitchFamily="49" charset="0"/>
                <a:cs typeface="Courier New" pitchFamily="49" charset="0"/>
              </a:rPr>
              <a:t>akPainter</a:t>
            </a:r>
            <a:endParaRPr lang="fr-FR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FR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fr-FR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</a:t>
            </a: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Paint(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*view,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SDL_Surface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*destination) = 0;</a:t>
            </a:r>
          </a:p>
          <a:p>
            <a:r>
              <a:rPr lang="fr-FR" sz="14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89178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L’Interface </a:t>
            </a:r>
            <a:r>
              <a:rPr lang="fr-CH" b="1" dirty="0" err="1"/>
              <a:t>akPainter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219200"/>
            <a:ext cx="9143999" cy="52629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fr-CH" sz="1200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AppKit.h</a:t>
            </a:r>
            <a:r>
              <a:rPr lang="en-US" sz="12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MonPaintre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: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akPainter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virtual void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Paint(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akView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*view,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SDL_Surface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destination)</a:t>
            </a:r>
          </a:p>
          <a:p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200" b="1" dirty="0" err="1" smtClean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Dessiner</a:t>
            </a:r>
            <a:r>
              <a:rPr lang="en-US" sz="1200" b="1" dirty="0" smtClean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un rectangle</a:t>
            </a: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200" b="1" dirty="0" err="1" smtClean="0">
                <a:latin typeface="Courier New" pitchFamily="49" charset="0"/>
                <a:cs typeface="Courier New" pitchFamily="49" charset="0"/>
              </a:rPr>
              <a:t>SDL_FillRect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(destination, NULL, </a:t>
            </a:r>
            <a:r>
              <a:rPr lang="en-US" sz="1200" b="1" dirty="0" err="1" smtClean="0">
                <a:latin typeface="Courier New" pitchFamily="49" charset="0"/>
                <a:cs typeface="Courier New" pitchFamily="49" charset="0"/>
              </a:rPr>
              <a:t>SDL_MapRGB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(destination-&gt;format,0.255,128)); </a:t>
            </a:r>
          </a:p>
          <a:p>
            <a:r>
              <a:rPr lang="en-US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};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fr-CH" sz="1200" b="1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main(</a:t>
            </a:r>
            <a:r>
              <a:rPr lang="fr-CH" sz="12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akApplication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akApplication(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akWindow *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= new akWindow(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(50,50,400,300),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en-US" sz="1200" b="1" dirty="0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“Mon application“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			  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akWS_CLOSABLE|akWS_VISIBLE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*view1 = new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akRect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(10,10,150,200));</a:t>
            </a: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fenetre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AddView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(view1);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	view1-&gt;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AddPainter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MonPaintre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());</a:t>
            </a:r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fr-CH" sz="1200" b="1" dirty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latin typeface="Courier New" pitchFamily="49" charset="0"/>
                <a:cs typeface="Courier New" pitchFamily="49" charset="0"/>
              </a:rPr>
              <a:t>	</a:t>
            </a:r>
            <a:endParaRPr lang="fr-CH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CH" sz="1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fr-CH" sz="12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fr-CH" sz="1200" b="1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fr-CH" sz="1200" b="1" dirty="0" err="1" smtClean="0">
                <a:latin typeface="Courier New" pitchFamily="49" charset="0"/>
                <a:cs typeface="Courier New" pitchFamily="49" charset="0"/>
              </a:rPr>
              <a:t>un</a:t>
            </a:r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CH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84066" y="4953000"/>
            <a:ext cx="5873934" cy="901337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17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notion de «first </a:t>
            </a:r>
            <a:r>
              <a:rPr lang="fr-CH" dirty="0" err="1" smtClean="0"/>
              <a:t>responder</a:t>
            </a:r>
            <a:r>
              <a:rPr lang="fr-CH" dirty="0" smtClean="0"/>
              <a:t>»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Exemple d’utilisation: zone de texte, déplacement du focus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03723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La notion de </a:t>
            </a:r>
            <a:r>
              <a:rPr lang="fr-CH" b="1" dirty="0" smtClean="0"/>
              <a:t>«First </a:t>
            </a:r>
            <a:r>
              <a:rPr lang="fr-CH" b="1" dirty="0" err="1" smtClean="0"/>
              <a:t>Responder</a:t>
            </a:r>
            <a:r>
              <a:rPr lang="fr-CH" b="1" dirty="0" smtClean="0"/>
              <a:t>»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Le «First </a:t>
            </a:r>
            <a:r>
              <a:rPr lang="fr-CH" dirty="0" err="1" smtClean="0"/>
              <a:t>Responder</a:t>
            </a:r>
            <a:r>
              <a:rPr lang="fr-CH" dirty="0" smtClean="0"/>
              <a:t>» et le premier </a:t>
            </a:r>
            <a:r>
              <a:rPr lang="fr-CH" dirty="0" err="1" smtClean="0"/>
              <a:t>View</a:t>
            </a:r>
            <a:r>
              <a:rPr lang="fr-CH" dirty="0" smtClean="0"/>
              <a:t>/ Contrôle qui reçoit l’évènement clavier</a:t>
            </a:r>
          </a:p>
          <a:p>
            <a:r>
              <a:rPr lang="fr-CH" dirty="0" smtClean="0"/>
              <a:t>Un </a:t>
            </a:r>
            <a:r>
              <a:rPr lang="fr-CH" dirty="0" err="1" smtClean="0"/>
              <a:t>contôle</a:t>
            </a:r>
            <a:r>
              <a:rPr lang="fr-CH" dirty="0" smtClean="0"/>
              <a:t> qui a le focus est un «First </a:t>
            </a:r>
            <a:r>
              <a:rPr lang="fr-CH" dirty="0" err="1" smtClean="0"/>
              <a:t>Reponder</a:t>
            </a:r>
            <a:r>
              <a:rPr lang="fr-CH" dirty="0" smtClean="0"/>
              <a:t>»</a:t>
            </a:r>
          </a:p>
          <a:p>
            <a:r>
              <a:rPr lang="fr-CH" dirty="0" smtClean="0"/>
              <a:t>On peut mettre le focus sur une zone de texte on appelant la méthode </a:t>
            </a:r>
            <a:r>
              <a:rPr lang="fr-CH" sz="2400" b="1" dirty="0" err="1" smtClean="0">
                <a:latin typeface="Courier New" pitchFamily="49" charset="0"/>
                <a:cs typeface="Courier New" pitchFamily="49" charset="0"/>
              </a:rPr>
              <a:t>SetFirstResponder</a:t>
            </a:r>
            <a:r>
              <a:rPr lang="fr-CH" sz="2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fr-CH" sz="2400" b="1" dirty="0" err="1" smtClean="0">
                <a:latin typeface="Courier New" pitchFamily="49" charset="0"/>
                <a:cs typeface="Courier New" pitchFamily="49" charset="0"/>
              </a:rPr>
              <a:t>akView</a:t>
            </a:r>
            <a:r>
              <a:rPr lang="fr-CH" sz="2400" b="1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fr-CH" sz="2400" b="1" dirty="0" err="1" smtClean="0">
                <a:latin typeface="Courier New" pitchFamily="49" charset="0"/>
                <a:cs typeface="Courier New" pitchFamily="49" charset="0"/>
              </a:rPr>
              <a:t>view</a:t>
            </a:r>
            <a:r>
              <a:rPr lang="fr-CH" sz="2400" b="1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fr-CH" dirty="0" smtClean="0"/>
              <a:t>de la class </a:t>
            </a:r>
            <a:r>
              <a:rPr lang="fr-CH" dirty="0" err="1" smtClean="0"/>
              <a:t>akView</a:t>
            </a:r>
            <a:r>
              <a:rPr lang="fr-CH" dirty="0" smtClean="0"/>
              <a:t> </a:t>
            </a:r>
            <a:endParaRPr lang="fr-FR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053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 smtClean="0"/>
              <a:t>demo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Créer une application simple avec AppKit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66293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958</Words>
  <Application>Microsoft Office PowerPoint</Application>
  <PresentationFormat>Affichage à l'écran (4:3)</PresentationFormat>
  <Paragraphs>495</Paragraphs>
  <Slides>52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3" baseType="lpstr">
      <vt:lpstr>Thème Office</vt:lpstr>
      <vt:lpstr>AppKit</vt:lpstr>
      <vt:lpstr>Généralités</vt:lpstr>
      <vt:lpstr>Historique</vt:lpstr>
      <vt:lpstr>Introduction à la programmation AppKit</vt:lpstr>
      <vt:lpstr>Créer une application</vt:lpstr>
      <vt:lpstr>La classe akApplication</vt:lpstr>
      <vt:lpstr>La classe akApplication</vt:lpstr>
      <vt:lpstr>Créer une fenêtre</vt:lpstr>
      <vt:lpstr>La classe akWindow</vt:lpstr>
      <vt:lpstr>Les styles de fenêtre</vt:lpstr>
      <vt:lpstr>La classe akWindow</vt:lpstr>
      <vt:lpstr>La classe akWindow</vt:lpstr>
      <vt:lpstr>Les contrôles</vt:lpstr>
      <vt:lpstr>Présentation PowerPoint</vt:lpstr>
      <vt:lpstr>Les contrôles</vt:lpstr>
      <vt:lpstr>La classe akObject</vt:lpstr>
      <vt:lpstr>La class akView</vt:lpstr>
      <vt:lpstr>La classe akControl</vt:lpstr>
      <vt:lpstr>Créer un bouton</vt:lpstr>
      <vt:lpstr>La class akPushButton</vt:lpstr>
      <vt:lpstr>La classe akPushButton</vt:lpstr>
      <vt:lpstr>Créer un bouton radio</vt:lpstr>
      <vt:lpstr>La class akRadioButton</vt:lpstr>
      <vt:lpstr>La class akRadioButton</vt:lpstr>
      <vt:lpstr>Créer une zone to texte</vt:lpstr>
      <vt:lpstr>La classe akTextBox</vt:lpstr>
      <vt:lpstr>La classe akTextBox</vt:lpstr>
      <vt:lpstr>Créer une liste</vt:lpstr>
      <vt:lpstr>La class akListBox</vt:lpstr>
      <vt:lpstr>La class akListBox</vt:lpstr>
      <vt:lpstr>Créer un label</vt:lpstr>
      <vt:lpstr>La classe akLabel</vt:lpstr>
      <vt:lpstr>La classe akLabel</vt:lpstr>
      <vt:lpstr>Afficher un message</vt:lpstr>
      <vt:lpstr>La classe akMessageBox</vt:lpstr>
      <vt:lpstr>Gestion des évènements</vt:lpstr>
      <vt:lpstr>Receveurs</vt:lpstr>
      <vt:lpstr>Évènements clavier</vt:lpstr>
      <vt:lpstr>L’Interface akKeyEventReceiver</vt:lpstr>
      <vt:lpstr>L’Interface akKeyEventReceiver</vt:lpstr>
      <vt:lpstr>Évènements SOURIs</vt:lpstr>
      <vt:lpstr>L’Interface akMouseEventReceiver</vt:lpstr>
      <vt:lpstr>L’Interface akMouseEventReceiver</vt:lpstr>
      <vt:lpstr>Les évènements utilisateur ou actions</vt:lpstr>
      <vt:lpstr>l’Interface akActionReceiver</vt:lpstr>
      <vt:lpstr>L’Interface akActionReceiver</vt:lpstr>
      <vt:lpstr>Faire du dessin</vt:lpstr>
      <vt:lpstr>L’Interface akPainter</vt:lpstr>
      <vt:lpstr>L’Interface akPainter</vt:lpstr>
      <vt:lpstr>La notion de «first responder»</vt:lpstr>
      <vt:lpstr>La notion de «First Responder»</vt:lpstr>
      <vt:lpstr>demo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AppKit</dc:title>
  <dc:creator>MacBook</dc:creator>
  <cp:lastModifiedBy>MacBook</cp:lastModifiedBy>
  <cp:revision>78</cp:revision>
  <dcterms:created xsi:type="dcterms:W3CDTF">2011-12-13T09:13:49Z</dcterms:created>
  <dcterms:modified xsi:type="dcterms:W3CDTF">2011-12-13T14:22:19Z</dcterms:modified>
</cp:coreProperties>
</file>